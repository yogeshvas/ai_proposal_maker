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photo-1598299803204-b73796f43289" ContentType="image/photo-1598299803204-b73796f43289"/>
  <Default Extension="photo-1551288049-bebda4e38f71" ContentType="image/photo-1551288049-bebda4e38f71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hoto-1598299803204-b73796f43289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hoto-1551288049-bebda4e38f71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data-driven ops to boost margin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175504" y="3749040"/>
            <a:ext cx="1828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manufacturing through unified data, real-time insights, scalable 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66344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decisions to proactive, connected-data operations across the value stream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9340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10–20% productivity via connected data fabric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175504" y="3749040"/>
            <a:ext cx="1828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deployment of unified data platform to drive faster, trusted insights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66344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to proactive operations through integrated data, automated reporting, and real-time asset analytics.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9340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to Proactive Ops: Data-Driven Transformation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175504" y="3749040"/>
            <a:ext cx="1828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manufacturing via unified data, real-time insights, and automated reporting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66344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current gaps and quantified outcomes to justify rapid platform adoption.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9340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0" descr="https://images.unsplash.com/photo-1598299803204-b73796f43289?crop=entropy&amp;cs=tinysrgb&amp;fit=max&amp;fm=jpg&amp;ixid=M3w5NTIwMDl8MHwxfHNlYXJjaHwxfHxtYW51ZmFjdHVyaW5nJTIwdGVhbXxlbnwwfDB8fHwxNzc4ODQ0NjA5fDA&amp;ixlib=rb-4.1.0&amp;q=80&amp;w=10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4864"/>
            <a:ext cx="5303520" cy="68031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4864"/>
            <a:ext cx="5303520" cy="6803136"/>
          </a:xfrm>
          <a:prstGeom prst="rect">
            <a:avLst/>
          </a:prstGeom>
          <a:solidFill>
            <a:srgbClr val="1A1A2E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182880"/>
            <a:ext cx="6126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5669280" y="457200"/>
            <a:ext cx="6126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Margin with Data-Driven Operations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669280" y="1874520"/>
            <a:ext cx="8229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0" y="201168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Resilient, enterprise-grade data platform for measurable ROI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669280" y="2606040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fragmented data to proactive, connected operations driving productivity and cost efficiency.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669280" y="352044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Unify data fabric to trim silos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0" y="395935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 reporting for faster insights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0" y="439826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asset analytics to boost OEE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669280" y="483717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 10–20% productivity uplift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 through connected data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1371600"/>
            <a:ext cx="18288" cy="502920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core capabilities to pains and outcomes for mid-market manufacturing.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data fabric reduces silos, ensures trusted metrics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reporting cuts manual effort, boosts accuracy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337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asset analytics improves OEE and throughput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Rapid deployment with scalable integrations and ROI visibility</a:t>
            </a:r>
            <a:endParaRPr lang="en-US" sz="1100" dirty="0"/>
          </a:p>
        </p:txBody>
      </p:sp>
      <p:pic>
        <p:nvPicPr>
          <p:cNvPr id="13" name="Image 0" descr="https://images.unsplash.com/photo-1551288049-bebda4e38f71?crop=entropy&amp;cs=tinysrgb&amp;fit=max&amp;fm=jpg&amp;ixid=M3w5NTIwMDl8MHwxfHNlYXJjaHwxfHxtYW51ZmFjdHVyaW5nJTIwZGFzaGJvYXJkfGVufDB8MHx8fDE3Nzg4NDQ2MDl8MA&amp;ixlib=rb-4.1.0&amp;q=80&amp;w=108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17320"/>
            <a:ext cx="5394960" cy="50292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309360" y="1417320"/>
            <a:ext cx="5394960" cy="5029200"/>
          </a:xfrm>
          <a:prstGeom prst="rect">
            <a:avLst/>
          </a:prstGeom>
          <a:solidFill>
            <a:srgbClr val="16213E">
              <a:alpha val="2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14630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fabric and real-time analytics drive proactive manufacturing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ROI via Connected Data for Ops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reactive firefighting to proactive, data-driven manufacturing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7530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357530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UPLIFT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15384" y="2011680"/>
            <a:ext cx="357530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15384" y="2011680"/>
            <a:ext cx="357530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246888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98264" y="3840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73568" y="2011680"/>
            <a:ext cx="357530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73568" y="2011680"/>
            <a:ext cx="357530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246888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faster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156448" y="3840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VELOCITY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10–20% productivity uplift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45896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5–10% cost reduction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75157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30% faster insights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 through data-driven rollout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deployment plan to stabilize and scale performance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1274552" cy="36576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9359" y="3429000"/>
            <a:ext cx="274320" cy="27432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54480"/>
            <a:ext cx="2635758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64592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0080" y="1920240"/>
            <a:ext cx="245287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unify data sources, establish metrics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47997" y="3429000"/>
            <a:ext cx="274320" cy="27432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67278" y="3794760"/>
            <a:ext cx="2635758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8718" y="388620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58718" y="4160520"/>
            <a:ext cx="245287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deploy automated reporting, dashboards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66635" y="3429000"/>
            <a:ext cx="274320" cy="274320"/>
          </a:xfrm>
          <a:prstGeom prst="ellipse">
            <a:avLst/>
          </a:prstGeom>
          <a:solidFill>
            <a:srgbClr val="6B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5916" y="1554480"/>
            <a:ext cx="2635758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7356" y="164592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77356" y="1920240"/>
            <a:ext cx="245287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enable real-time asset analytics and insights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185273" y="3429000"/>
            <a:ext cx="274320" cy="27432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04554" y="3794760"/>
            <a:ext cx="2635758" cy="1645920"/>
          </a:xfrm>
          <a:prstGeom prst="rect">
            <a:avLst/>
          </a:prstGeom>
          <a:solidFill>
            <a:srgbClr val="F7F7F7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95994" y="3886200"/>
            <a:ext cx="245287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095994" y="4160520"/>
            <a:ext cx="245287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Measure: productivity uplift 10–20%, cost ↓ 5–10%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Transformation ROI through Connected Data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investment yields measurable productivity, costs, and time-to-insight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57530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11680"/>
            <a:ext cx="357530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6888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10-20%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3840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UPLIFT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215384" y="2011680"/>
            <a:ext cx="357530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15384" y="2011680"/>
            <a:ext cx="357530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246888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398264" y="3840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REDUCTION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73568" y="2011680"/>
            <a:ext cx="3575304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  <a:effectLst>
            <a:outerShdw sx="100000" sy="100000" kx="0" ky="0" algn="bl" rotWithShape="0" blurRad="76200" dist="25400" dir="2700000">
              <a:srgbClr val="CCCCCC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73568" y="2011680"/>
            <a:ext cx="3575304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2468880"/>
            <a:ext cx="3209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faster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8156448" y="384048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SPEED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516636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Unified data fabric enables trusted analytics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545896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reporting reduces manual effort by 40%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751576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analytics lift OEE and throughput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ACTION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 Commitment to Data-Driven Transformation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175504" y="3749040"/>
            <a:ext cx="18288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393192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resilience with measurable ROI and rapid deployment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4663440"/>
            <a:ext cx="85313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sponsorship and clear next steps to accelerate unified data platform adoption.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7F7F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6693408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8074152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47472"/>
            <a:ext cx="292608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475488"/>
            <a:ext cx="3383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3383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Fabric for Proactive Operations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2926080"/>
            <a:ext cx="1005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063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data backbone enabling real-time insights and rapid decision cycles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end-to-end integration model across ERP, MES, and PLM with automated reporting and real-time analytics.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480560" y="3200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DB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80560" y="777240"/>
            <a:ext cx="7223760" cy="1325880"/>
          </a:xfrm>
          <a:prstGeom prst="rect">
            <a:avLst/>
          </a:prstGeom>
          <a:solidFill>
            <a:srgbClr val="0F34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75588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ERP, MES, PLM into single source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176272"/>
            <a:ext cx="7223760" cy="132588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674620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reporting; eliminates manual bottlenecks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575304"/>
            <a:ext cx="7223760" cy="1325880"/>
          </a:xfrm>
          <a:prstGeom prst="rect">
            <a:avLst/>
          </a:prstGeom>
          <a:solidFill>
            <a:srgbClr val="6B6B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4073652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asset and production analytics for OEE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480560" y="4974336"/>
            <a:ext cx="7223760" cy="1325880"/>
          </a:xfrm>
          <a:prstGeom prst="rect">
            <a:avLst/>
          </a:prstGeom>
          <a:solidFill>
            <a:srgbClr val="E8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5472684"/>
            <a:ext cx="6858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10–20% productivity uplift and faster insights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0" y="1371600"/>
            <a:ext cx="457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Enterprise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for Modern Manufacturing</dc:title>
  <dc:subject>Operational resilience through data-driven decisions</dc:subject>
  <dc:creator>AI Proposal Engine</dc:creator>
  <cp:lastModifiedBy>AI Proposal Engine</cp:lastModifiedBy>
  <cp:revision>1</cp:revision>
  <dcterms:created xsi:type="dcterms:W3CDTF">2026-05-15T11:30:09Z</dcterms:created>
  <dcterms:modified xsi:type="dcterms:W3CDTF">2026-05-15T11:30:09Z</dcterms:modified>
</cp:coreProperties>
</file>